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[0:00] This is Cognitive Fitness and Human Development — an evidence-informed learning space for how people think, learn, focus, sleep, and build habits. The problem it attacks: brain-training products overclaim, learning tools are scattered, and most interfaces bury the next step under decoration.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[0:25] Research — Simons and colleagues' 2016 review is one example we cite — shows game-based training rarely transfers. Yet most apps still sell 'your brain, now at 20 percent better'.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[0:25 cont.] So every page in this app must carry a boundary: what the task score does NOT prove. You can see it on any concept or evidence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[1:05] Our solution is structure you can verify. Every one of the twenty-three pages is registered with an audience, a purpose, one primary action, and links onward. The validator fails the build if any of that is missing — 'every page has meaning' is enforced by the pipeline, not by taste.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[1:05 cont.] On top of the contract: six guided journeys that chain understand, experience, inspect, practice, apply, and reflect — with no account and no tracking.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[4:10 on camera] Opt in, and it runs on user-pays billing: each visitor gets a free monthly allowance, then they pay their own usage. We never hold credentials; every message needs explicit consent; one kill switch turns it 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[1:45] The stack: Next.js 16 with React 19, strict TypeScript, content as JSON data with custom validators, Vitest with 187 tests, Tailwind and CSS modules, deployed on Vercel, and Puter.js for the optional AI guide.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[2:20] The browser talks to a static CDN — 22 prerendered pages. Preferences and history live only in local storage. Opt into the guide and your browser calls the provider through Puter — no key in our infra. CI gates every deploy.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[4:35] No accounts, no database, no analytics — the privacy page lists every path data takes, because this is a research prototype with honest gates, not a launch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[4:35 cont.] Nothing here is claimed WCAG-conformant or production-ready — that restraint is the point: the checklist in the repo lists exactly which gates remain.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Finance detail is PRD § 9: total operating cost today $0; the only scaling costs are hosting tier and operator-run OpenAI, both gated on explicit owner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Asks: 30 minutes of judge time for the manual matrix on one device; a Vercel plan confirmation; and one education reviewer to pressure-test the boundary copy.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[2:50 → 5:00] Demo per the scene table; closing line: 'No accounts, no database, no analytics — a research prototype with honest gates, not a launch claim. Thank you.'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E6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800" b="1">
                <a:solidFill>
                  <a:srgbClr val="1C2B2F"/>
                </a:solidFill>
                <a:latin typeface="Calibri"/>
              </a:rPr>
              <a:t>Cognitive Fitness &amp; Human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5A6A6E"/>
                </a:solidFill>
                <a:latin typeface="Calibri"/>
              </a:rPr>
              <a:t>Evidence-informed learning for how people think, learn, focus, sleep, and connect.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832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E6E66"/>
                </a:solidFill>
                <a:latin typeface="Calibri"/>
              </a:rPr>
              <a:t>“Every page earns its place” — purpose, structure, linkage, and direction, enforced by the build.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76072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6A6E"/>
                </a:solidFill>
                <a:latin typeface="Calibri"/>
              </a:rPr>
              <a:t>Hackathon submission · October 2026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5A6A6E"/>
                </a:solidFill>
                <a:latin typeface="Calibri"/>
              </a:rPr>
              <a:t>github.com/ahmed-raza-ur-rehman/hackathon2  ·  cognitive-fitness-blond.vercel.app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6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A6A6E"/>
                </a:solidFill>
                <a:latin typeface="Calibri"/>
              </a:rPr>
              <a:t>01 ·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C2B2F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6424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1000"/>
              </a:spcBef>
            </a:pPr>
            <a:r>
              <a:rPr sz="2100" b="1">
                <a:solidFill>
                  <a:srgbClr val="0E6E66"/>
                </a:solidFill>
                <a:latin typeface="Calibri"/>
              </a:rPr>
              <a:t>Overclaiming</a:t>
            </a:r>
          </a:p>
          <a:p>
            <a:pPr algn="l"/>
            <a:r>
              <a:rPr sz="1700" b="0">
                <a:solidFill>
                  <a:srgbClr val="1C2B2F"/>
                </a:solidFill>
                <a:latin typeface="Calibri"/>
              </a:rPr>
              <a:t>“Brain training” apps promise transfer effects the evidence doesn't support (Simons et al. 2016 meta-review is one we cite in-app).</a:t>
            </a:r>
          </a:p>
          <a:p>
            <a:pPr algn="l">
              <a:spcBef>
                <a:spcPts val="1000"/>
              </a:spcBef>
            </a:pPr>
            <a:r>
              <a:rPr sz="2100" b="1">
                <a:solidFill>
                  <a:srgbClr val="0E6E66"/>
                </a:solidFill>
                <a:latin typeface="Calibri"/>
              </a:rPr>
              <a:t>Fragmented learning</a:t>
            </a:r>
          </a:p>
          <a:p>
            <a:pPr algn="l"/>
            <a:r>
              <a:rPr sz="1700" b="0">
                <a:solidFill>
                  <a:srgbClr val="1C2B2F"/>
                </a:solidFill>
                <a:latin typeface="Calibri"/>
              </a:rPr>
              <a:t>Concepts, study technique, and practice live in different products with no guided path from understanding to application.</a:t>
            </a:r>
          </a:p>
          <a:p>
            <a:pPr algn="l">
              <a:spcBef>
                <a:spcPts val="1000"/>
              </a:spcBef>
            </a:pPr>
            <a:r>
              <a:rPr sz="2100" b="1">
                <a:solidFill>
                  <a:srgbClr val="0E6E66"/>
                </a:solidFill>
                <a:latin typeface="Calibri"/>
              </a:rPr>
              <a:t>Cognitive overload</a:t>
            </a:r>
          </a:p>
          <a:p>
            <a:pPr algn="l"/>
            <a:r>
              <a:rPr sz="1700" b="0">
                <a:solidFill>
                  <a:srgbClr val="1C2B2F"/>
                </a:solidFill>
                <a:latin typeface="Calibri"/>
              </a:rPr>
              <a:t>Learning UIs duplicate navigation, bury the next action, and ignore reading preferences (size, contrast, motion).</a:t>
            </a:r>
          </a:p>
          <a:p>
            <a:pPr algn="l">
              <a:spcBef>
                <a:spcPts val="1000"/>
              </a:spcBef>
            </a:pPr>
            <a:r>
              <a:rPr sz="2100" b="1">
                <a:solidFill>
                  <a:srgbClr val="0E6E66"/>
                </a:solidFill>
                <a:latin typeface="Calibri"/>
              </a:rPr>
              <a:t>AI demos that exclude</a:t>
            </a:r>
          </a:p>
          <a:p>
            <a:pPr algn="l"/>
            <a:r>
              <a:rPr sz="1700" b="0">
                <a:solidFill>
                  <a:srgbClr val="1C2B2F"/>
                </a:solidFill>
                <a:latin typeface="Calibri"/>
              </a:rPr>
              <a:t>Education demos hide an operator-billed API key behind logins — or run up the developer's bill per request.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6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A6A6E"/>
                </a:solidFill>
                <a:latin typeface="Calibri"/>
              </a:rPr>
              <a:t>02 · THE HONESTY STANCE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C2B2F"/>
                </a:solidFill>
                <a:latin typeface="Calibri"/>
              </a:rPr>
              <a:t>We publish our own limits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106424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E6E66"/>
                </a:solidFill>
                <a:latin typeface="Calibri"/>
              </a:rPr>
              <a:t>Every page carries a Boundary</a:t>
            </a:r>
          </a:p>
          <a:p>
            <a:pPr algn="l">
              <a:spcBef>
                <a:spcPts val="200"/>
              </a:spcBef>
            </a:pPr>
            <a:r>
              <a:rPr sz="1700" b="0">
                <a:solidFill>
                  <a:srgbClr val="1C2B2F"/>
                </a:solidFill>
                <a:latin typeface="Calibri"/>
              </a:rPr>
              <a:t>Scores stay task-specific — never a diagnosis, never IQ, never proof of broad cognitive change.</a:t>
            </a:r>
          </a:p>
          <a:p>
            <a:pPr algn="l">
              <a:spcBef>
                <a:spcPts val="1400"/>
              </a:spcBef>
            </a:pPr>
            <a:r>
              <a:rPr sz="2000" b="1">
                <a:solidFill>
                  <a:srgbClr val="0E6E66"/>
                </a:solidFill>
                <a:latin typeface="Calibri"/>
              </a:rPr>
              <a:t>An inspectable evidence ledger</a:t>
            </a:r>
          </a:p>
          <a:p>
            <a:pPr algn="l">
              <a:spcBef>
                <a:spcPts val="200"/>
              </a:spcBef>
            </a:pPr>
            <a:r>
              <a:rPr sz="1700" b="0">
                <a:solidFill>
                  <a:srgbClr val="1C2B2F"/>
                </a:solidFill>
                <a:latin typeface="Calibri"/>
              </a:rPr>
              <a:t>Claims link to studies with a plain-language “what it does/doesn't mean” summary — users can check us.</a:t>
            </a:r>
          </a:p>
          <a:p>
            <a:pPr algn="l">
              <a:spcBef>
                <a:spcPts val="1400"/>
              </a:spcBef>
            </a:pPr>
            <a:r>
              <a:rPr sz="2000" b="1">
                <a:solidFill>
                  <a:srgbClr val="0E6E66"/>
                </a:solidFill>
                <a:latin typeface="Calibri"/>
              </a:rPr>
              <a:t>Careful copy rules</a:t>
            </a:r>
          </a:p>
          <a:p>
            <a:pPr algn="l">
              <a:spcBef>
                <a:spcPts val="200"/>
              </a:spcBef>
            </a:pPr>
            <a:r>
              <a:rPr sz="1700" b="0">
                <a:solidFill>
                  <a:srgbClr val="1C2B2F"/>
                </a:solidFill>
                <a:latin typeface="Calibri"/>
              </a:rPr>
              <a:t>Adult-support language for emotion topics; clinical content explicitly excluded; four-week schedules are authored routines, not validated curricula.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6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A6A6E"/>
                </a:solidFill>
                <a:latin typeface="Calibri"/>
              </a:rPr>
              <a:t>03 · PROBLEM →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C2B2F"/>
                </a:solidFill>
                <a:latin typeface="Calibri"/>
              </a:rPr>
              <a:t>Structure as code, not taste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106424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C2B2F"/>
                </a:solidFill>
                <a:latin typeface="Calibri"/>
              </a:rPr>
              <a:t>Every route is registered in content/routes-v1.json:</a:t>
            </a:r>
          </a:p>
          <a:p>
            <a:pPr algn="l"/>
            <a:r>
              <a:rPr sz="1800" b="0">
                <a:solidFill>
                  <a:srgbClr val="0E6E66"/>
                </a:solidFill>
                <a:latin typeface="Calibri"/>
              </a:rPr>
              <a:t>kind · audience · purpose · one primary action · anchors · leadsTo</a:t>
            </a:r>
          </a:p>
          <a:p>
            <a:pPr algn="l">
              <a:spcBef>
                <a:spcPts val="800"/>
              </a:spcBef>
            </a:pPr>
            <a:r>
              <a:rPr sz="1700" b="0">
                <a:solidFill>
                  <a:srgbClr val="1C2B2F"/>
                </a:solidFill>
                <a:latin typeface="Calibri"/>
              </a:rPr>
              <a:t>A build-time validator (content/validate.mjs) fails the build if any page is unregistered, dangling, or lacks a purpose.</a:t>
            </a:r>
          </a:p>
          <a:p>
            <a:pPr algn="l">
              <a:spcBef>
                <a:spcPts val="600"/>
              </a:spcBef>
            </a:pPr>
            <a:r>
              <a:rPr sz="1700" b="0">
                <a:solidFill>
                  <a:srgbClr val="1C2B2F"/>
                </a:solidFill>
                <a:latin typeface="Calibri"/>
              </a:rPr>
              <a:t>The page shell renders breadcrumbs, the stated purpose, a boundary note, and a registry-driven “where this leads” panel — from the same data.</a:t>
            </a:r>
          </a:p>
          <a:p>
            <a:pPr algn="l">
              <a:spcBef>
                <a:spcPts val="1000"/>
              </a:spcBef>
            </a:pPr>
            <a:r>
              <a:rPr sz="1700" b="1">
                <a:solidFill>
                  <a:srgbClr val="B45309"/>
                </a:solidFill>
                <a:latin typeface="Calibri"/>
              </a:rPr>
              <a:t>23 registered pages · 6 guided journeys · 29 linked steps — each step with purpose, action, takeaway, and caution.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5623560"/>
            <a:ext cx="2377440" cy="685800"/>
          </a:xfrm>
          <a:prstGeom prst="roundRect">
            <a:avLst/>
          </a:prstGeom>
          <a:solidFill>
            <a:srgbClr val="ECEFE9"/>
          </a:solidFill>
          <a:ln w="17780">
            <a:solidFill>
              <a:srgbClr val="0E6E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1C2B2F"/>
                </a:solidFill>
                <a:latin typeface="Calibri"/>
              </a:rPr>
              <a:t>content/routes-v1.json</a:t>
            </a:r>
          </a:p>
          <a:p>
            <a:pPr algn="ctr"/>
            <a:r>
              <a:rPr sz="900">
                <a:solidFill>
                  <a:srgbClr val="5A6A6E"/>
                </a:solidFill>
                <a:latin typeface="Calibri"/>
              </a:rPr>
              <a:t>single registry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86200" y="5623560"/>
            <a:ext cx="2377440" cy="685800"/>
          </a:xfrm>
          <a:prstGeom prst="roundRect">
            <a:avLst/>
          </a:prstGeom>
          <a:solidFill>
            <a:srgbClr val="ECEFE9"/>
          </a:solidFill>
          <a:ln w="17780">
            <a:solidFill>
              <a:srgbClr val="0E6E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1C2B2F"/>
                </a:solidFill>
                <a:latin typeface="Calibri"/>
              </a:rPr>
              <a:t>content/validate.mjs</a:t>
            </a:r>
          </a:p>
          <a:p>
            <a:pPr algn="ctr"/>
            <a:r>
              <a:rPr sz="900">
                <a:solidFill>
                  <a:srgbClr val="5A6A6E"/>
                </a:solidFill>
                <a:latin typeface="Calibri"/>
              </a:rPr>
              <a:t>purpose + links check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5623560"/>
            <a:ext cx="2377440" cy="685800"/>
          </a:xfrm>
          <a:prstGeom prst="roundRect">
            <a:avLst/>
          </a:prstGeom>
          <a:solidFill>
            <a:srgbClr val="ECEFE9"/>
          </a:solidFill>
          <a:ln w="17780">
            <a:solidFill>
              <a:srgbClr val="0E6E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1C2B2F"/>
                </a:solidFill>
                <a:latin typeface="Calibri"/>
              </a:rPr>
              <a:t>CI — lint · tsc · 187 tests</a:t>
            </a:r>
          </a:p>
          <a:p>
            <a:pPr algn="ctr"/>
            <a:r>
              <a:rPr sz="900">
                <a:solidFill>
                  <a:srgbClr val="5A6A6E"/>
                </a:solidFill>
                <a:latin typeface="Calibri"/>
              </a:rPr>
              <a:t>hosted, on every push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12680" y="5623560"/>
            <a:ext cx="2377440" cy="685800"/>
          </a:xfrm>
          <a:prstGeom prst="roundRect">
            <a:avLst/>
          </a:prstGeom>
          <a:solidFill>
            <a:srgbClr val="ECEFE9"/>
          </a:solidFill>
          <a:ln w="17780">
            <a:solidFill>
              <a:srgbClr val="0E6E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1C2B2F"/>
                </a:solidFill>
                <a:latin typeface="Calibri"/>
              </a:rPr>
              <a:t>PageIntro shell</a:t>
            </a:r>
          </a:p>
          <a:p>
            <a:pPr algn="ctr"/>
            <a:r>
              <a:rPr sz="900">
                <a:solidFill>
                  <a:srgbClr val="5A6A6E"/>
                </a:solidFill>
                <a:latin typeface="Calibri"/>
              </a:rPr>
              <a:t>renders structure on-page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00400" y="5966460.0"/>
            <a:ext cx="685800" cy="0.0"/>
          </a:xfrm>
          <a:prstGeom prst="line">
            <a:avLst/>
          </a:prstGeom>
          <a:ln w="22860">
            <a:solidFill>
              <a:srgbClr val="0E6E66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263640" y="5966460.0"/>
            <a:ext cx="685800" cy="0.0"/>
          </a:xfrm>
          <a:prstGeom prst="line">
            <a:avLst/>
          </a:prstGeom>
          <a:ln w="22860">
            <a:solidFill>
              <a:srgbClr val="0E6E66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326880" y="5966460.0"/>
            <a:ext cx="685800" cy="0.0"/>
          </a:xfrm>
          <a:prstGeom prst="line">
            <a:avLst/>
          </a:prstGeom>
          <a:ln w="22860">
            <a:solidFill>
              <a:srgbClr val="0E6E66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6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A6A6E"/>
                </a:solidFill>
                <a:latin typeface="Calibri"/>
              </a:rPr>
              <a:t>04 ·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C2B2F"/>
                </a:solidFill>
                <a:latin typeface="Calibri"/>
              </a:rPr>
              <a:t>What we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6424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E6E66"/>
                </a:solidFill>
                <a:latin typeface="Calibri"/>
              </a:rPr>
              <a:t>Guided journeys</a:t>
            </a:r>
          </a:p>
          <a:p>
            <a:pPr algn="l">
              <a:spcBef>
                <a:spcPts val="100"/>
              </a:spcBef>
            </a:pPr>
            <a:r>
              <a:rPr sz="1550" b="0">
                <a:solidFill>
                  <a:srgbClr val="1C2B2F"/>
                </a:solidFill>
                <a:latin typeface="Calibri"/>
              </a:rPr>
              <a:t>6 paths, 29 steps: understand → experience → inspect → practice → apply → reflect. No account, no tracking.</a:t>
            </a:r>
          </a:p>
          <a:p>
            <a:pPr algn="l"/>
            <a:r>
              <a:rPr sz="1800" b="1">
                <a:solidFill>
                  <a:srgbClr val="0E6E66"/>
                </a:solidFill>
                <a:latin typeface="Calibri"/>
              </a:rPr>
              <a:t>Client-side search</a:t>
            </a:r>
          </a:p>
          <a:p>
            <a:pPr algn="l">
              <a:spcBef>
                <a:spcPts val="100"/>
              </a:spcBef>
            </a:pPr>
            <a:r>
              <a:rPr sz="1550" b="0">
                <a:solidFill>
                  <a:srgbClr val="1C2B2F"/>
                </a:solidFill>
                <a:latin typeface="Calibri"/>
              </a:rPr>
              <a:t>Finds concepts, steps, activities, claims, sources; typo-grace; works with zero JS.</a:t>
            </a:r>
          </a:p>
          <a:p>
            <a:pPr algn="l"/>
            <a:r>
              <a:rPr sz="1800" b="1">
                <a:solidFill>
                  <a:srgbClr val="0E6E66"/>
                </a:solidFill>
                <a:latin typeface="Calibri"/>
              </a:rPr>
              <a:t>7 reading settings</a:t>
            </a:r>
          </a:p>
          <a:p>
            <a:pPr algn="l">
              <a:spcBef>
                <a:spcPts val="100"/>
              </a:spcBef>
            </a:pPr>
            <a:r>
              <a:rPr sz="1550" b="0">
                <a:solidFill>
                  <a:srgbClr val="1C2B2F"/>
                </a:solidFill>
                <a:latin typeface="Calibri"/>
              </a:rPr>
              <a:t>Size, contrast, spacing, serif, motion, reading guide, underlines — pre-paint, cross-tab sync, storage-failure tolerant.</a:t>
            </a:r>
          </a:p>
          <a:p>
            <a:pPr algn="l"/>
            <a:r>
              <a:rPr sz="1800" b="1">
                <a:solidFill>
                  <a:srgbClr val="0E6E66"/>
                </a:solidFill>
                <a:latin typeface="Calibri"/>
              </a:rPr>
              <a:t>Local-only progress</a:t>
            </a:r>
          </a:p>
          <a:p>
            <a:pPr algn="l">
              <a:spcBef>
                <a:spcPts val="100"/>
              </a:spcBef>
            </a:pPr>
            <a:r>
              <a:rPr sz="1550" b="0">
                <a:solidFill>
                  <a:srgbClr val="1C2B2F"/>
                </a:solidFill>
                <a:latin typeface="Calibri"/>
              </a:rPr>
              <a:t>Describes opted-in practice sessions as counts and cadence; no pooled score.</a:t>
            </a:r>
          </a:p>
          <a:p>
            <a:pPr algn="l"/>
            <a:r>
              <a:rPr sz="1800" b="1">
                <a:solidFill>
                  <a:srgbClr val="0E6E66"/>
                </a:solidFill>
                <a:latin typeface="Calibri"/>
              </a:rPr>
              <a:t>3-mode coach</a:t>
            </a:r>
          </a:p>
          <a:p>
            <a:pPr algn="l">
              <a:spcBef>
                <a:spcPts val="100"/>
              </a:spcBef>
            </a:pPr>
            <a:r>
              <a:rPr sz="1550" b="0">
                <a:solidFill>
                  <a:srgbClr val="1C2B2F"/>
                </a:solidFill>
                <a:latin typeface="Calibri"/>
              </a:rPr>
              <a:t>Device-only default · Puter user-pays opt-in · operator path disabled by default.</a:t>
            </a:r>
          </a:p>
          <a:p>
            <a:pPr algn="l"/>
            <a:r>
              <a:rPr sz="1800" b="1">
                <a:solidFill>
                  <a:srgbClr val="0E6E66"/>
                </a:solidFill>
                <a:latin typeface="Calibri"/>
              </a:rPr>
              <a:t>Atlas &amp; practice</a:t>
            </a:r>
          </a:p>
          <a:p>
            <a:pPr algn="l">
              <a:spcBef>
                <a:spcPts val="100"/>
              </a:spcBef>
            </a:pPr>
            <a:r>
              <a:rPr sz="1550" b="0">
                <a:solidFill>
                  <a:srgbClr val="1C2B2F"/>
                </a:solidFill>
                <a:latin typeface="Calibri"/>
              </a:rPr>
              <a:t>14 development areas with starters and boundaries; 8 untimed practice modes; 4 four-week self-owned schedules.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6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A6A6E"/>
                </a:solidFill>
                <a:latin typeface="Calibri"/>
              </a:rPr>
              <a:t>05 · THE PUTER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C2B2F"/>
                </a:solidFill>
                <a:latin typeface="Calibri"/>
              </a:rPr>
              <a:t>AI without operator keys: user-pays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6424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E6E66"/>
                </a:solidFill>
                <a:latin typeface="Calibri"/>
              </a:rPr>
              <a:t>Each visitor pays for their own usage</a:t>
            </a:r>
          </a:p>
          <a:p>
            <a:pPr algn="l"/>
            <a:r>
              <a:rPr sz="1600" b="0">
                <a:solidFill>
                  <a:srgbClr val="1C2B2F"/>
                </a:solidFill>
                <a:latin typeface="Calibri"/>
              </a:rPr>
              <a:t>Puter.js runs in the browser; the visitor signs into their own Puter account. Every user starts with a free monthly allowance — then they pay. We never hold credentials, and our dev cost is $0.</a:t>
            </a:r>
          </a:p>
          <a:p>
            <a:pPr algn="l">
              <a:spcBef>
                <a:spcPts val="1200"/>
              </a:spcBef>
            </a:pPr>
            <a:r>
              <a:rPr sz="1900" b="1">
                <a:solidFill>
                  <a:srgbClr val="0E6E66"/>
                </a:solidFill>
                <a:latin typeface="Calibri"/>
              </a:rPr>
              <a:t>Guardrails, shown in the UI</a:t>
            </a:r>
          </a:p>
          <a:p>
            <a:pPr algn="l">
              <a:spcBef>
                <a:spcPts val="200"/>
              </a:spcBef>
            </a:pPr>
            <a:r>
              <a:rPr sz="1600" b="0">
                <a:solidFill>
                  <a:srgbClr val="1C2B2F"/>
                </a:solidFill>
                <a:latin typeface="Calibri"/>
              </a:rPr>
              <a:t>Consent asked per message, re-asked when context changes · one bounded turn per request · 6 requests / 5 min per page · adult self-declaration (not verification) · kill switch env flag · fail-closed: provider down ⇒ the page still works.</a:t>
            </a:r>
          </a:p>
          <a:p>
            <a:pPr algn="l">
              <a:spcBef>
                <a:spcPts val="1200"/>
              </a:spcBef>
            </a:pPr>
            <a:r>
              <a:rPr sz="1900" b="1">
                <a:solidFill>
                  <a:srgbClr val="B45309"/>
                </a:solidFill>
                <a:latin typeface="Calibri"/>
              </a:rPr>
              <a:t>Honest framing</a:t>
            </a:r>
          </a:p>
          <a:p>
            <a:pPr algn="l">
              <a:spcBef>
                <a:spcPts val="200"/>
              </a:spcBef>
            </a:pPr>
            <a:r>
              <a:rPr sz="1600" b="0">
                <a:solidFill>
                  <a:srgbClr val="1C2B2F"/>
                </a:solidFill>
                <a:latin typeface="Calibri"/>
              </a:rPr>
              <a:t>“Free monthly allowance, then paid” — the product says so in the consent box. No unlimited-free-AI claims, and Google sign-in is deliberately NOT wired as a model switch (auth ≠ model authorization).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6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A6A6E"/>
                </a:solidFill>
                <a:latin typeface="Calibri"/>
              </a:rPr>
              <a:t>06 · TOOLS &amp;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C2B2F"/>
                </a:solidFill>
                <a:latin typeface="Calibri"/>
              </a:rP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6424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E6E66"/>
                </a:solidFill>
                <a:latin typeface="Calibri"/>
              </a:rPr>
              <a:t>App</a:t>
            </a:r>
          </a:p>
          <a:p>
            <a:pPr algn="l"/>
            <a:r>
              <a:rPr sz="1600" b="0">
                <a:solidFill>
                  <a:srgbClr val="1C2B2F"/>
                </a:solidFill>
                <a:latin typeface="Calibri"/>
              </a:rPr>
              <a:t>Next.js 16.3.8 (App Router, static-first) · React 19.3 · TypeScript 5.9 strict · Tailwind 4 + CSS Modules</a:t>
            </a:r>
          </a:p>
          <a:p>
            <a:pPr algn="l">
              <a:spcBef>
                <a:spcPts val="1000"/>
              </a:spcBef>
            </a:pPr>
            <a:r>
              <a:rPr sz="1800" b="1">
                <a:solidFill>
                  <a:srgbClr val="0E6E66"/>
                </a:solidFill>
                <a:latin typeface="Calibri"/>
              </a:rPr>
              <a:t>Content as data</a:t>
            </a:r>
          </a:p>
          <a:p>
            <a:pPr algn="l"/>
            <a:r>
              <a:rPr sz="1600" b="0">
                <a:solidFill>
                  <a:srgbClr val="1C2B2F"/>
                </a:solidFill>
                <a:latin typeface="Calibri"/>
              </a:rPr>
              <a:t>JSON route registry + journey content, custom Node ≥22 validators wired into CI</a:t>
            </a:r>
          </a:p>
          <a:p>
            <a:pPr algn="l">
              <a:spcBef>
                <a:spcPts val="1000"/>
              </a:spcBef>
            </a:pPr>
            <a:r>
              <a:rPr sz="1800" b="1">
                <a:solidFill>
                  <a:srgbClr val="0E6E66"/>
                </a:solidFill>
                <a:latin typeface="Calibri"/>
              </a:rPr>
              <a:t>Quality</a:t>
            </a:r>
          </a:p>
          <a:p>
            <a:pPr algn="l"/>
            <a:r>
              <a:rPr sz="1600" b="0">
                <a:solidFill>
                  <a:srgbClr val="1C2B2F"/>
                </a:solidFill>
                <a:latin typeface="Calibri"/>
              </a:rPr>
              <a:t>Vitest 5 + Testing Library + jsdom (187 tests) · ESLint 9 · hosted Actions CI · Vercel builds</a:t>
            </a:r>
          </a:p>
          <a:p>
            <a:pPr algn="l">
              <a:spcBef>
                <a:spcPts val="1000"/>
              </a:spcBef>
            </a:pPr>
            <a:r>
              <a:rPr sz="1800" b="1">
                <a:solidFill>
                  <a:srgbClr val="0E6E66"/>
                </a:solidFill>
                <a:latin typeface="Calibri"/>
              </a:rPr>
              <a:t>Hosting &amp; AI</a:t>
            </a:r>
          </a:p>
          <a:p>
            <a:pPr algn="l"/>
            <a:r>
              <a:rPr sz="1600" b="0">
                <a:solidFill>
                  <a:srgbClr val="1C2B2F"/>
                </a:solidFill>
                <a:latin typeface="Calibri"/>
              </a:rPr>
              <a:t>Vercel (Node 22, root cognitive-fitness) · Puter.js SDK client-side (default model gpt-5.4-nano) · OpenAI server route present but fail-closed without a key</a:t>
            </a:r>
          </a:p>
          <a:p>
            <a:pPr algn="l">
              <a:spcBef>
                <a:spcPts val="1000"/>
              </a:spcBef>
            </a:pPr>
            <a:r>
              <a:rPr sz="1800" b="1">
                <a:solidFill>
                  <a:srgbClr val="0E6E66"/>
                </a:solidFill>
                <a:latin typeface="Calibri"/>
              </a:rPr>
              <a:t>Security posture</a:t>
            </a:r>
          </a:p>
          <a:p>
            <a:pPr algn="l"/>
            <a:r>
              <a:rPr sz="1600" b="0">
                <a:solidFill>
                  <a:srgbClr val="1C2B2F"/>
                </a:solidFill>
                <a:latin typeface="Calibri"/>
              </a:rPr>
              <a:t>CSP/SRI for the third-party script is a tracked open decision (R-04), claimed nowhere as done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6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A6A6E"/>
                </a:solidFill>
                <a:latin typeface="Calibri"/>
              </a:rPr>
              <a:t>07 ·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C2B2F"/>
                </a:solidFill>
                <a:latin typeface="Calibri"/>
              </a:rPr>
              <a:t>High-level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2651760" cy="868680"/>
          </a:xfrm>
          <a:prstGeom prst="roundRect">
            <a:avLst/>
          </a:prstGeom>
          <a:solidFill>
            <a:srgbClr val="ECEFE9"/>
          </a:solidFill>
          <a:ln w="17780">
            <a:solidFill>
              <a:srgbClr val="0E6E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1C2B2F"/>
                </a:solidFill>
                <a:latin typeface="Calibri"/>
              </a:rPr>
              <a:t>Visitor browser</a:t>
            </a:r>
          </a:p>
          <a:p>
            <a:pPr algn="ctr"/>
            <a:r>
              <a:rPr sz="1100">
                <a:solidFill>
                  <a:srgbClr val="5A6A6E"/>
                </a:solidFill>
                <a:latin typeface="Calibri"/>
              </a:rPr>
              <a:t>one localStorage key · no cookies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828800"/>
            <a:ext cx="2926080" cy="868680"/>
          </a:xfrm>
          <a:prstGeom prst="roundRect">
            <a:avLst/>
          </a:prstGeom>
          <a:solidFill>
            <a:srgbClr val="ECEFE9"/>
          </a:solidFill>
          <a:ln w="17780">
            <a:solidFill>
              <a:srgbClr val="0E6E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1C2B2F"/>
                </a:solidFill>
                <a:latin typeface="Calibri"/>
              </a:rPr>
              <a:t>Vercel CDN</a:t>
            </a:r>
          </a:p>
          <a:p>
            <a:pPr algn="ctr"/>
            <a:r>
              <a:rPr sz="1100">
                <a:solidFill>
                  <a:srgbClr val="5A6A6E"/>
                </a:solidFill>
                <a:latin typeface="Calibri"/>
              </a:rPr>
              <a:t>22 prerendered pages (static)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246120"/>
            <a:ext cx="2651760" cy="731520"/>
          </a:xfrm>
          <a:prstGeom prst="roundRect">
            <a:avLst/>
          </a:prstGeom>
          <a:solidFill>
            <a:srgbClr val="ECEFE9"/>
          </a:solidFill>
          <a:ln w="17780">
            <a:solidFill>
              <a:srgbClr val="0E6E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1C2B2F"/>
                </a:solidFill>
                <a:latin typeface="Calibri"/>
              </a:rPr>
              <a:t>localStorage</a:t>
            </a:r>
          </a:p>
          <a:p>
            <a:pPr algn="ctr"/>
            <a:r>
              <a:rPr sz="1100">
                <a:solidFill>
                  <a:srgbClr val="5A6A6E"/>
                </a:solidFill>
                <a:latin typeface="Calibri"/>
              </a:rPr>
              <a:t>preferences · saved practice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3383280"/>
            <a:ext cx="2926080" cy="822960"/>
          </a:xfrm>
          <a:prstGeom prst="roundRect">
            <a:avLst/>
          </a:prstGeom>
          <a:solidFill>
            <a:srgbClr val="ECEFE9"/>
          </a:solidFill>
          <a:ln w="17780">
            <a:solidFill>
              <a:srgbClr val="0E6E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1C2B2F"/>
                </a:solidFill>
                <a:latin typeface="Calibri"/>
              </a:rPr>
              <a:t>Coach panel — opt-in</a:t>
            </a:r>
          </a:p>
          <a:p>
            <a:pPr algn="ctr"/>
            <a:r>
              <a:rPr sz="1100">
                <a:solidFill>
                  <a:srgbClr val="5A6A6E"/>
                </a:solidFill>
                <a:latin typeface="Calibri"/>
              </a:rPr>
              <a:t>mode chooser · consent · rate limit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965960"/>
            <a:ext cx="3291840" cy="822960"/>
          </a:xfrm>
          <a:prstGeom prst="roundRect">
            <a:avLst/>
          </a:prstGeom>
          <a:solidFill>
            <a:srgbClr val="ECEFE9"/>
          </a:solidFill>
          <a:ln w="17780">
            <a:solidFill>
              <a:srgbClr val="0E6E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1C2B2F"/>
                </a:solidFill>
                <a:latin typeface="Calibri"/>
              </a:rPr>
              <a:t>Puter.js (in browser)</a:t>
            </a:r>
          </a:p>
          <a:p>
            <a:pPr algn="ctr"/>
            <a:r>
              <a:rPr sz="1100">
                <a:solidFill>
                  <a:srgbClr val="5A6A6E"/>
                </a:solidFill>
                <a:latin typeface="Calibri"/>
              </a:rPr>
              <a:t>user signs in · free allowance → user pays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3246120"/>
            <a:ext cx="3291840" cy="822960"/>
          </a:xfrm>
          <a:prstGeom prst="roundRect">
            <a:avLst/>
          </a:prstGeom>
          <a:solidFill>
            <a:srgbClr val="ECEFE9"/>
          </a:solidFill>
          <a:ln w="17780">
            <a:solidFill>
              <a:srgbClr val="0E6E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1C2B2F"/>
                </a:solidFill>
                <a:latin typeface="Calibri"/>
              </a:rPr>
              <a:t>Provider model</a:t>
            </a:r>
          </a:p>
          <a:p>
            <a:pPr algn="ctr"/>
            <a:r>
              <a:rPr sz="1100">
                <a:solidFill>
                  <a:srgbClr val="5A6A6E"/>
                </a:solidFill>
                <a:latin typeface="Calibri"/>
              </a:rPr>
              <a:t>e.g. gpt-5.4-nano · app holds NO key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4526280"/>
            <a:ext cx="3291840" cy="777240"/>
          </a:xfrm>
          <a:prstGeom prst="roundRect">
            <a:avLst/>
          </a:prstGeom>
          <a:solidFill>
            <a:srgbClr val="F7F5EF"/>
          </a:solidFill>
          <a:ln w="17780">
            <a:solidFill>
              <a:srgbClr val="5A6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5A6A6E"/>
                </a:solidFill>
                <a:latin typeface="Calibri"/>
              </a:rPr>
              <a:t>/coach/api (OpenAI)</a:t>
            </a:r>
          </a:p>
          <a:p>
            <a:pPr algn="ctr"/>
            <a:r>
              <a:rPr sz="1100">
                <a:solidFill>
                  <a:srgbClr val="5A6A6E"/>
                </a:solidFill>
                <a:latin typeface="Calibri"/>
              </a:rPr>
              <a:t>disabled: no key configured → 503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394960"/>
            <a:ext cx="2651760" cy="777240"/>
          </a:xfrm>
          <a:prstGeom prst="roundRect">
            <a:avLst/>
          </a:prstGeom>
          <a:solidFill>
            <a:srgbClr val="ECEFE9"/>
          </a:solidFill>
          <a:ln w="17780">
            <a:solidFill>
              <a:srgbClr val="0E6E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1C2B2F"/>
                </a:solidFill>
                <a:latin typeface="Calibri"/>
              </a:rPr>
              <a:t>GitHub PR</a:t>
            </a:r>
          </a:p>
          <a:p>
            <a:pPr algn="ctr"/>
            <a:r>
              <a:rPr sz="1100">
                <a:solidFill>
                  <a:srgbClr val="5A6A6E"/>
                </a:solidFill>
                <a:latin typeface="Calibri"/>
              </a:rPr>
              <a:t>arena branch → main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5394960"/>
            <a:ext cx="2926080" cy="777240"/>
          </a:xfrm>
          <a:prstGeom prst="roundRect">
            <a:avLst/>
          </a:prstGeom>
          <a:solidFill>
            <a:srgbClr val="ECEFE9"/>
          </a:solidFill>
          <a:ln w="17780">
            <a:solidFill>
              <a:srgbClr val="0E6E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1C2B2F"/>
                </a:solidFill>
                <a:latin typeface="Calibri"/>
              </a:rPr>
              <a:t>CI gate</a:t>
            </a:r>
          </a:p>
          <a:p>
            <a:pPr algn="ctr"/>
            <a:r>
              <a:rPr sz="1100">
                <a:solidFill>
                  <a:srgbClr val="5A6A6E"/>
                </a:solidFill>
                <a:latin typeface="Calibri"/>
              </a:rPr>
              <a:t>lint · tsc · 187 tests · validators · build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5394960"/>
            <a:ext cx="3291840" cy="777240"/>
          </a:xfrm>
          <a:prstGeom prst="roundRect">
            <a:avLst/>
          </a:prstGeom>
          <a:solidFill>
            <a:srgbClr val="ECEFE9"/>
          </a:solidFill>
          <a:ln w="17780">
            <a:solidFill>
              <a:srgbClr val="0E6E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1C2B2F"/>
                </a:solidFill>
                <a:latin typeface="Calibri"/>
              </a:rPr>
              <a:t>Vercel deploy</a:t>
            </a:r>
          </a:p>
          <a:p>
            <a:pPr algn="ctr"/>
            <a:r>
              <a:rPr sz="1100">
                <a:solidFill>
                  <a:srgbClr val="5A6A6E"/>
                </a:solidFill>
                <a:latin typeface="Calibri"/>
              </a:rPr>
              <a:t>preview on PR · prod on main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291840" y="2263140.0"/>
            <a:ext cx="1005840" cy="0.0"/>
          </a:xfrm>
          <a:prstGeom prst="line">
            <a:avLst/>
          </a:prstGeom>
          <a:ln w="22860">
            <a:solidFill>
              <a:srgbClr val="0E6E66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965960" y="2697480"/>
            <a:ext cx="0" cy="548640"/>
          </a:xfrm>
          <a:prstGeom prst="line">
            <a:avLst/>
          </a:prstGeom>
          <a:ln w="22860">
            <a:solidFill>
              <a:srgbClr val="0E6E66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2377440" y="3383280"/>
            <a:ext cx="3383280" cy="594360"/>
          </a:xfrm>
          <a:prstGeom prst="line">
            <a:avLst/>
          </a:prstGeom>
          <a:ln w="22860">
            <a:solidFill>
              <a:srgbClr val="B45309"/>
            </a:solidFill>
            <a:prstDash val="dash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223760" y="2395728"/>
            <a:ext cx="1005840" cy="0"/>
          </a:xfrm>
          <a:prstGeom prst="line">
            <a:avLst/>
          </a:prstGeom>
          <a:ln w="22860">
            <a:solidFill>
              <a:srgbClr val="0E6E66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875520" y="2788920"/>
            <a:ext cx="0" cy="457200"/>
          </a:xfrm>
          <a:prstGeom prst="line">
            <a:avLst/>
          </a:prstGeom>
          <a:ln w="22860">
            <a:solidFill>
              <a:srgbClr val="0E6E66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223760" y="3794760"/>
            <a:ext cx="1005840" cy="1097280"/>
          </a:xfrm>
          <a:prstGeom prst="line">
            <a:avLst/>
          </a:prstGeom>
          <a:ln w="22860">
            <a:solidFill>
              <a:srgbClr val="5A6A6E"/>
            </a:solidFill>
            <a:prstDash val="dash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291840" y="5779008"/>
            <a:ext cx="1005840" cy="0"/>
          </a:xfrm>
          <a:prstGeom prst="line">
            <a:avLst/>
          </a:prstGeom>
          <a:ln w="22860">
            <a:solidFill>
              <a:srgbClr val="0E6E66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223760" y="5779008"/>
            <a:ext cx="1005840" cy="0"/>
          </a:xfrm>
          <a:prstGeom prst="line">
            <a:avLst/>
          </a:prstGeom>
          <a:ln w="22860">
            <a:solidFill>
              <a:srgbClr val="0E6E66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9875520" y="3840480"/>
            <a:ext cx="0" cy="1554480"/>
          </a:xfrm>
          <a:prstGeom prst="line">
            <a:avLst/>
          </a:prstGeom>
          <a:ln w="22860">
            <a:solidFill>
              <a:srgbClr val="5A6A6E"/>
            </a:solidFill>
            <a:prstDash val="dash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297680" y="6309360"/>
            <a:ext cx="7223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6E"/>
                </a:solidFill>
                <a:latin typeface="Calibri"/>
              </a:rPr>
              <a:t>Solid = always-on paths · orange dashed = user data never leaves the device unless AI is opted into · grey = disabled unless configured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6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A6A6E"/>
                </a:solidFill>
                <a:latin typeface="Calibri"/>
              </a:rPr>
              <a:t>08 ·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C2B2F"/>
                </a:solidFill>
                <a:latin typeface="Calibri"/>
              </a:rPr>
              <a:t>Privacy is a design constraint, not a policy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6424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800"/>
              </a:spcBef>
            </a:pPr>
            <a:r>
              <a:rPr sz="1800" b="0">
                <a:solidFill>
                  <a:srgbClr val="1C2B2F"/>
                </a:solidFill>
                <a:latin typeface="Calibri"/>
              </a:rPr>
              <a:t>•  Zero accounts, zero databases, zero analytics, zero ads.</a:t>
            </a:r>
          </a:p>
          <a:p>
            <a:pPr algn="l">
              <a:spcBef>
                <a:spcPts val="800"/>
              </a:spcBef>
            </a:pPr>
            <a:r>
              <a:rPr sz="1800" b="0">
                <a:solidFill>
                  <a:srgbClr val="1C2B2F"/>
                </a:solidFill>
                <a:latin typeface="Calibri"/>
              </a:rPr>
              <a:t>•  One localStorage key holds reading preferences and (opt-in) saved practice history.</a:t>
            </a:r>
          </a:p>
          <a:p>
            <a:pPr algn="l">
              <a:spcBef>
                <a:spcPts val="800"/>
              </a:spcBef>
            </a:pPr>
            <a:r>
              <a:rPr sz="1800" b="0">
                <a:solidFill>
                  <a:srgbClr val="1C2B2F"/>
                </a:solidFill>
                <a:latin typeface="Calibri"/>
              </a:rPr>
              <a:t>•  Search runs entirely in the browser — no queries, no logs.</a:t>
            </a:r>
          </a:p>
          <a:p>
            <a:pPr algn="l">
              <a:spcBef>
                <a:spcPts val="800"/>
              </a:spcBef>
            </a:pPr>
            <a:r>
              <a:rPr sz="1800" b="0">
                <a:solidFill>
                  <a:srgbClr val="1C2B2F"/>
                </a:solidFill>
                <a:latin typeface="Calibri"/>
              </a:rPr>
              <a:t>•  Challenge/result codes are self-reported by design; the UI says so — no fake verification claims.</a:t>
            </a:r>
          </a:p>
          <a:p>
            <a:pPr algn="l">
              <a:spcBef>
                <a:spcPts val="800"/>
              </a:spcBef>
            </a:pPr>
            <a:r>
              <a:rPr sz="1800" b="0">
                <a:solidFill>
                  <a:srgbClr val="1C2B2F"/>
                </a:solidFill>
                <a:latin typeface="Calibri"/>
              </a:rPr>
              <a:t>•  /privacy lists every data path in plain language — including what Puter's own terms cover once you sign in.</a:t>
            </a:r>
          </a:p>
          <a:p>
            <a:pPr algn="l">
              <a:spcBef>
                <a:spcPts val="800"/>
              </a:spcBef>
            </a:pPr>
            <a:r>
              <a:rPr sz="1800" b="0">
                <a:solidFill>
                  <a:srgbClr val="B45309"/>
                </a:solidFill>
                <a:latin typeface="Calibri"/>
              </a:rPr>
              <a:t>•  Security headers shipped; CSP/SRI decisions for the third-party script are tracked, not hand-waved.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6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A6A6E"/>
                </a:solidFill>
                <a:latin typeface="Calibri"/>
              </a:rPr>
              <a:t>09 · QUALITY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C2B2F"/>
                </a:solidFill>
                <a:latin typeface="Calibri"/>
              </a:rPr>
              <a:t>What is verified — and what isn't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5440680" cy="4572000"/>
          </a:xfrm>
          <a:prstGeom prst="rect">
            <a:avLst/>
          </a:prstGeom>
          <a:solidFill>
            <a:srgbClr val="EC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0" y="1554480"/>
            <a:ext cx="5440680" cy="4572000"/>
          </a:xfrm>
          <a:prstGeom prst="rect">
            <a:avLst/>
          </a:prstGeom>
          <a:solidFill>
            <a:srgbClr val="F7F5EF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484632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E6E66"/>
                </a:solidFill>
                <a:latin typeface="Calibri"/>
              </a:rPr>
              <a:t>Verified today</a:t>
            </a:r>
          </a:p>
          <a:p>
            <a:pPr algn="l">
              <a:spcBef>
                <a:spcPts val="1000"/>
              </a:spcBef>
            </a:pPr>
            <a:r>
              <a:rPr sz="1550" b="0">
                <a:solidFill>
                  <a:srgbClr val="1C2B2F"/>
                </a:solidFill>
                <a:latin typeface="Calibri"/>
              </a:rPr>
              <a:t>•  187 unit/behavior tests green (37 files)</a:t>
            </a:r>
          </a:p>
          <a:p>
            <a:pPr algn="l">
              <a:spcBef>
                <a:spcPts val="600"/>
              </a:spcBef>
            </a:pPr>
            <a:r>
              <a:rPr sz="1550" b="0">
                <a:solidFill>
                  <a:srgbClr val="1C2B2F"/>
                </a:solidFill>
                <a:latin typeface="Calibri"/>
              </a:rPr>
              <a:t>•  ESLint 0 errors · tsc strict clean</a:t>
            </a:r>
          </a:p>
          <a:p>
            <a:pPr algn="l">
              <a:spcBef>
                <a:spcPts val="600"/>
              </a:spcBef>
            </a:pPr>
            <a:r>
              <a:rPr sz="1550" b="0">
                <a:solidFill>
                  <a:srgbClr val="1C2B2F"/>
                </a:solidFill>
                <a:latin typeface="Calibri"/>
              </a:rPr>
              <a:t>•  Registry + journey validators pass (23 pages, 6/29)</a:t>
            </a:r>
          </a:p>
          <a:p>
            <a:pPr algn="l">
              <a:spcBef>
                <a:spcPts val="600"/>
              </a:spcBef>
            </a:pPr>
            <a:r>
              <a:rPr sz="1550" b="0">
                <a:solidFill>
                  <a:srgbClr val="1C2B2F"/>
                </a:solidFill>
                <a:latin typeface="Calibri"/>
              </a:rPr>
              <a:t>•  Hosted CI green on push + PR (Actions) and a Vercel build</a:t>
            </a:r>
          </a:p>
          <a:p>
            <a:pPr algn="l">
              <a:spcBef>
                <a:spcPts val="600"/>
              </a:spcBef>
            </a:pPr>
            <a:r>
              <a:rPr sz="1550" b="0">
                <a:solidFill>
                  <a:srgbClr val="1C2B2F"/>
                </a:solidFill>
                <a:latin typeface="Calibri"/>
              </a:rPr>
              <a:t>•  22/23 routes prerendered static; headers verified</a:t>
            </a:r>
          </a:p>
          <a:p>
            <a:pPr algn="l">
              <a:spcBef>
                <a:spcPts val="600"/>
              </a:spcBef>
            </a:pPr>
            <a:r>
              <a:rPr sz="1550" b="0">
                <a:solidFill>
                  <a:srgbClr val="1C2B2F"/>
                </a:solidFill>
                <a:latin typeface="Calibri"/>
              </a:rPr>
              <a:t>•  Orchestrated audit trail (validate + 11 workflow tests)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1783080"/>
            <a:ext cx="484632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B45309"/>
                </a:solidFill>
                <a:latin typeface="Calibri"/>
              </a:rPr>
              <a:t>Still open — deliberately unchecked</a:t>
            </a:r>
          </a:p>
          <a:p>
            <a:pPr algn="l">
              <a:spcBef>
                <a:spcPts val="1000"/>
              </a:spcBef>
            </a:pPr>
            <a:r>
              <a:rPr sz="1550" b="0">
                <a:solidFill>
                  <a:srgbClr val="1C2B2F"/>
                </a:solidFill>
                <a:latin typeface="Calibri"/>
              </a:rPr>
              <a:t>•  Manual a11y/device matrix (screen reader, keyboard, zoom, touch)</a:t>
            </a:r>
          </a:p>
          <a:p>
            <a:pPr algn="l">
              <a:spcBef>
                <a:spcPts val="600"/>
              </a:spcBef>
            </a:pPr>
            <a:r>
              <a:rPr sz="1550" b="0">
                <a:solidFill>
                  <a:srgbClr val="1C2B2F"/>
                </a:solidFill>
                <a:latin typeface="Calibri"/>
              </a:rPr>
              <a:t>•  Legal/privacy review — /privacy is a prototype disclosure</a:t>
            </a:r>
          </a:p>
          <a:p>
            <a:pPr algn="l">
              <a:spcBef>
                <a:spcPts val="600"/>
              </a:spcBef>
            </a:pPr>
            <a:r>
              <a:rPr sz="1550" b="0">
                <a:solidFill>
                  <a:srgbClr val="1C2B2F"/>
                </a:solidFill>
                <a:latin typeface="Calibri"/>
              </a:rPr>
              <a:t>•  Independent security + evidence review</a:t>
            </a:r>
          </a:p>
          <a:p>
            <a:pPr algn="l">
              <a:spcBef>
                <a:spcPts val="600"/>
              </a:spcBef>
            </a:pPr>
            <a:r>
              <a:rPr sz="1550" b="0">
                <a:solidFill>
                  <a:srgbClr val="1C2B2F"/>
                </a:solidFill>
                <a:latin typeface="Calibri"/>
              </a:rPr>
              <a:t>•  CSP/SRI decision for Puter script (R-04)</a:t>
            </a:r>
          </a:p>
          <a:p>
            <a:pPr algn="l">
              <a:spcBef>
                <a:spcPts val="600"/>
              </a:spcBef>
            </a:pPr>
            <a:r>
              <a:rPr sz="1550" b="0">
                <a:solidFill>
                  <a:srgbClr val="1C2B2F"/>
                </a:solidFill>
                <a:latin typeface="Calibri"/>
              </a:rPr>
              <a:t>•  Adversarial prompting of the AI guide (R-05)</a:t>
            </a:r>
          </a:p>
          <a:p>
            <a:pPr algn="l">
              <a:spcBef>
                <a:spcPts val="600"/>
              </a:spcBef>
            </a:pPr>
            <a:r>
              <a:rPr sz="1550" b="0">
                <a:solidFill>
                  <a:srgbClr val="1C2B2F"/>
                </a:solidFill>
                <a:latin typeface="Calibri"/>
              </a:rPr>
              <a:t>•  main branch protection: require the checks (owner action)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6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A6A6E"/>
                </a:solidFill>
                <a:latin typeface="Calibri"/>
              </a:rPr>
              <a:t>10 ·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C2B2F"/>
                </a:solidFill>
                <a:latin typeface="Calibri"/>
              </a:rPr>
              <a:t>Finance: $0/month by construction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A6A6E"/>
                </a:solidFill>
                <a:latin typeface="Calibri"/>
              </a:rPr>
              <a:t>Item · Cost today · Note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3291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C2B2F"/>
                </a:solidFill>
                <a:latin typeface="Calibri"/>
              </a:rPr>
              <a:t>Development toolchain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645920"/>
            <a:ext cx="1737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E6E66"/>
                </a:solidFill>
                <a:latin typeface="Calibri"/>
              </a:rPr>
              <a:t>$0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645920"/>
            <a:ext cx="5669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6A6E"/>
                </a:solidFill>
                <a:latin typeface="Calibri"/>
              </a:rPr>
              <a:t>open-source stack; local dev + CI free tier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04288"/>
            <a:ext cx="3291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C2B2F"/>
                </a:solidFill>
                <a:latin typeface="Calibri"/>
              </a:rPr>
              <a:t>Hosting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304288"/>
            <a:ext cx="1737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E6E66"/>
                </a:solidFill>
                <a:latin typeface="Calibri"/>
              </a:rPr>
              <a:t>$0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304288"/>
            <a:ext cx="5669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6A6E"/>
                </a:solidFill>
                <a:latin typeface="Calibri"/>
              </a:rPr>
              <a:t>Vercel Hobby (Hobby forbids commercial use → Pro $20/dev/mo if it productizes)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962656"/>
            <a:ext cx="3291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C2B2F"/>
                </a:solidFill>
                <a:latin typeface="Calibri"/>
              </a:rPr>
              <a:t>Domain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962656"/>
            <a:ext cx="1737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E6E66"/>
                </a:solidFill>
                <a:latin typeface="Calibri"/>
              </a:rPr>
              <a:t>$0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962656"/>
            <a:ext cx="5669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6A6E"/>
                </a:solidFill>
                <a:latin typeface="Calibri"/>
              </a:rPr>
              <a:t>vercel.app subdomain; optional custom ≈ $10–20/yr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621024"/>
            <a:ext cx="3291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C2B2F"/>
                </a:solidFill>
                <a:latin typeface="Calibri"/>
              </a:rPr>
              <a:t>AI — user-pays mode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3621024"/>
            <a:ext cx="1737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E6E66"/>
                </a:solidFill>
                <a:latin typeface="Calibri"/>
              </a:rPr>
              <a:t>$0 to 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621024"/>
            <a:ext cx="5669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6A6E"/>
                </a:solidFill>
                <a:latin typeface="Calibri"/>
              </a:rPr>
              <a:t>each user: free monthly allowance → then their own metered usage; no key custody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279392"/>
            <a:ext cx="3291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C2B2F"/>
                </a:solidFill>
                <a:latin typeface="Calibri"/>
              </a:rPr>
              <a:t>AI — operator path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4279392"/>
            <a:ext cx="1737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E6E66"/>
                </a:solidFill>
                <a:latin typeface="Calibri"/>
              </a:rPr>
              <a:t>$0 (disabled)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4279392"/>
            <a:ext cx="5669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6A6E"/>
                </a:solidFill>
                <a:latin typeface="Calibri"/>
              </a:rPr>
              <a:t>if enabled, operator pays per token; request hard-bounded (~2k in / ≤900 chars out)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937760"/>
            <a:ext cx="3291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C2B2F"/>
                </a:solidFill>
                <a:latin typeface="Calibri"/>
              </a:rPr>
              <a:t>Analytics / email / ads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4937760"/>
            <a:ext cx="1737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E6E66"/>
                </a:solidFill>
                <a:latin typeface="Calibri"/>
              </a:rPr>
              <a:t>$0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4937760"/>
            <a:ext cx="5669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6A6E"/>
                </a:solidFill>
                <a:latin typeface="Calibri"/>
              </a:rPr>
              <a:t>deliberately none — a privacy decision, not a budget one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806440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B45309"/>
                </a:solidFill>
                <a:latin typeface="Calibri"/>
              </a:rPr>
              <a:t>Risk the checklist tracks: a public “AI product” on Hobby is the one combo that forces a plan decision — flagged for the owner, priced, not promised.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6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A6A6E"/>
                </a:solidFill>
                <a:latin typeface="Calibri"/>
              </a:rPr>
              <a:t>11 · AFTER THE HACKATHON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C2B2F"/>
                </a:solidFill>
                <a:latin typeface="Calibri"/>
              </a:rPr>
              <a:t>Roadmap &amp; what we need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6424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E6E66"/>
                </a:solidFill>
                <a:latin typeface="Calibri"/>
              </a:rPr>
              <a:t>Ship-safe (blocking, in the repo checklist)</a:t>
            </a:r>
          </a:p>
          <a:p>
            <a:pPr algn="l"/>
            <a:r>
              <a:rPr sz="1600" b="0">
                <a:solidFill>
                  <a:srgbClr val="1C2B2F"/>
                </a:solidFill>
                <a:latin typeface="Calibri"/>
              </a:rPr>
              <a:t>Run the accessibility/device matrix · legal review · CSP/SRI ruling · adversarial AI tests · protect main with the required check</a:t>
            </a:r>
          </a:p>
          <a:p>
            <a:pPr algn="l">
              <a:spcBef>
                <a:spcPts val="1200"/>
              </a:spcBef>
            </a:pPr>
            <a:r>
              <a:rPr sz="1800" b="1">
                <a:solidFill>
                  <a:srgbClr val="0E6E66"/>
                </a:solidFill>
                <a:latin typeface="Calibri"/>
              </a:rPr>
              <a:t>Product growth (approved direction)</a:t>
            </a:r>
          </a:p>
          <a:p>
            <a:pPr algn="l"/>
            <a:r>
              <a:rPr sz="1600" b="0">
                <a:solidFill>
                  <a:srgbClr val="1C2B2F"/>
                </a:solidFill>
                <a:latin typeface="Calibri"/>
              </a:rPr>
              <a:t>More journeys from the same registry · teacher-mode handouts · concept-to-schedule deep links · multi-language content pipeline</a:t>
            </a:r>
          </a:p>
          <a:p>
            <a:pPr algn="l">
              <a:spcBef>
                <a:spcPts val="1200"/>
              </a:spcBef>
            </a:pPr>
            <a:r>
              <a:rPr sz="1800" b="1">
                <a:solidFill>
                  <a:srgbClr val="B45309"/>
                </a:solidFill>
                <a:latin typeface="Calibri"/>
              </a:rPr>
              <a:t>Explicitly not on the near roadmap</a:t>
            </a:r>
          </a:p>
          <a:p>
            <a:pPr algn="l"/>
            <a:r>
              <a:rPr sz="1600" b="0">
                <a:solidFill>
                  <a:srgbClr val="1C2B2F"/>
                </a:solidFill>
                <a:latin typeface="Calibri"/>
              </a:rPr>
              <a:t>Accounts, streaks-as-pressure, public rankings, diagnosis-adjacent features, “brain score”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E6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1C2B2F"/>
                </a:solidFill>
                <a:latin typeface="Calibri"/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834640"/>
            <a:ext cx="1024128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1C2B2F"/>
                </a:solidFill>
                <a:latin typeface="Calibri"/>
              </a:rPr>
              <a:t>•  Start Here journey → one step, its caution, its link</a:t>
            </a:r>
          </a:p>
          <a:p>
            <a:pPr algn="l">
              <a:spcBef>
                <a:spcPts val="800"/>
              </a:spcBef>
            </a:pPr>
            <a:r>
              <a:rPr sz="1900" b="0">
                <a:solidFill>
                  <a:srgbClr val="1C2B2F"/>
                </a:solidFill>
                <a:latin typeface="Calibri"/>
              </a:rPr>
              <a:t>•  Search “spac” → spacing effect, zero requests</a:t>
            </a:r>
          </a:p>
          <a:p>
            <a:pPr algn="l">
              <a:spcBef>
                <a:spcPts val="800"/>
              </a:spcBef>
            </a:pPr>
            <a:r>
              <a:rPr sz="1900" b="0">
                <a:solidFill>
                  <a:srgbClr val="1C2B2F"/>
                </a:solidFill>
                <a:latin typeface="Calibri"/>
              </a:rPr>
              <a:t>•  Reading settings → serif + reading guide, instant</a:t>
            </a:r>
          </a:p>
          <a:p>
            <a:pPr algn="l">
              <a:spcBef>
                <a:spcPts val="800"/>
              </a:spcBef>
            </a:pPr>
            <a:r>
              <a:rPr sz="1900" b="0">
                <a:solidFill>
                  <a:srgbClr val="1C2B2F"/>
                </a:solidFill>
                <a:latin typeface="Calibri"/>
              </a:rPr>
              <a:t>•  /progress → opt-in insight, no pooled score</a:t>
            </a:r>
          </a:p>
          <a:p>
            <a:pPr algn="l">
              <a:spcBef>
                <a:spcPts val="800"/>
              </a:spcBef>
            </a:pPr>
            <a:r>
              <a:rPr sz="1900" b="0">
                <a:solidFill>
                  <a:srgbClr val="1C2B2F"/>
                </a:solidFill>
                <a:latin typeface="Calibri"/>
              </a:rPr>
              <a:t>•  /coach → three modes; user-pays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5669280"/>
            <a:ext cx="10241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E6E66"/>
                </a:solidFill>
                <a:latin typeface="Calibri"/>
              </a:rPr>
              <a:t>Thank you — every word on every page is link-checked by CI.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5A6A6E"/>
                </a:solidFill>
                <a:latin typeface="Calibri"/>
              </a:rPr>
              <a:t>github.com/ahmed-raza-ur-rehman/hackathon2 · cognitive-fitness-blond.vercel.app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